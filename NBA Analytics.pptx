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707"/>
    <p:restoredTop sz="94612"/>
  </p:normalViewPr>
  <p:slideViewPr>
    <p:cSldViewPr snapToGrid="0">
      <p:cViewPr varScale="1">
        <p:scale>
          <a:sx n="137" d="100"/>
          <a:sy n="137" d="100"/>
        </p:scale>
        <p:origin x="568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b032dbfaeb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b032dbfaeb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b032dbfaeb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b032dbfaeb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b032dbfaeb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b032dbfaeb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032dbfaeb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032dbfaeb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032dbfaeb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032dbfaeb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032dbfaeb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b032dbfaeb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b032dbfaeb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b032dbfaeb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04d3ed133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b04d3ed133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50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5365200" y="1889741"/>
            <a:ext cx="36192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rgbClr val="69A2C0"/>
                </a:solidFill>
              </a:rPr>
              <a:t>Data-Driven Insights from Player and Team Performance</a:t>
            </a:r>
            <a:endParaRPr sz="1800" b="1" dirty="0">
              <a:solidFill>
                <a:srgbClr val="69A2C0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803852" y="1241333"/>
            <a:ext cx="52056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 dirty="0">
                <a:solidFill>
                  <a:srgbClr val="E69138"/>
                </a:solidFill>
              </a:rPr>
              <a:t>What Drives Winning in the NBA?</a:t>
            </a:r>
            <a:endParaRPr sz="2300" b="1" dirty="0">
              <a:solidFill>
                <a:srgbClr val="E69138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7090903" y="2652166"/>
            <a:ext cx="1893497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 dirty="0">
                <a:solidFill>
                  <a:srgbClr val="69A2C0"/>
                </a:solidFill>
              </a:rPr>
              <a:t>Bek, KJ, Sunee, Vignesh</a:t>
            </a:r>
            <a:endParaRPr sz="1200" i="1" dirty="0">
              <a:solidFill>
                <a:srgbClr val="69A2C0"/>
              </a:solidFill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89540" y="4484313"/>
            <a:ext cx="586175" cy="58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3F3F3"/>
            </a:gs>
            <a:gs pos="5000">
              <a:srgbClr val="F6F6F6"/>
            </a:gs>
            <a:gs pos="92000">
              <a:srgbClr val="F9F9F9"/>
            </a:gs>
            <a:gs pos="96000">
              <a:srgbClr val="F6F6F6"/>
            </a:gs>
            <a:gs pos="100000">
              <a:srgbClr val="F3F3F3"/>
            </a:gs>
          </a:gsLst>
          <a:lin ang="5400012" scaled="0"/>
        </a:gra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>
            <a:spLocks noGrp="1"/>
          </p:cNvSpPr>
          <p:nvPr>
            <p:ph type="title"/>
          </p:nvPr>
        </p:nvSpPr>
        <p:spPr>
          <a:xfrm>
            <a:off x="113650" y="114950"/>
            <a:ext cx="8520600" cy="40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600" b="1"/>
              <a:t>Dataset Overview &amp; Business Context</a:t>
            </a:r>
            <a:endParaRPr sz="1600" b="1"/>
          </a:p>
        </p:txBody>
      </p:sp>
      <p:sp>
        <p:nvSpPr>
          <p:cNvPr id="64" name="Google Shape;64;p14"/>
          <p:cNvSpPr txBox="1"/>
          <p:nvPr/>
        </p:nvSpPr>
        <p:spPr>
          <a:xfrm>
            <a:off x="369850" y="522050"/>
            <a:ext cx="8008200" cy="39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Large NBA dataset containing player-level and team-level game statistics</a:t>
            </a:r>
            <a:br>
              <a:rPr lang="en" sz="1200"/>
            </a:br>
            <a:endParaRPr sz="12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/>
              <a:t>Dataset Details</a:t>
            </a:r>
            <a:endParaRPr sz="1200" b="1"/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★"/>
            </a:pPr>
            <a:r>
              <a:rPr lang="en" sz="1200"/>
              <a:t>Data: 80 Years - 1.6M Records  </a:t>
            </a:r>
            <a:endParaRPr sz="1200"/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★"/>
            </a:pPr>
            <a:r>
              <a:rPr lang="en" sz="1200"/>
              <a:t>Attributes: 20+ Performance Fields  </a:t>
            </a:r>
            <a:endParaRPr sz="1200"/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★"/>
            </a:pPr>
            <a:r>
              <a:rPr lang="en" sz="1200"/>
              <a:t>Grain Levels: Player, Team, Game </a:t>
            </a:r>
            <a:endParaRPr sz="12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1200"/>
            </a:br>
            <a:r>
              <a:rPr lang="en" sz="1200" b="1"/>
              <a:t>Business Relevance</a:t>
            </a:r>
            <a:endParaRPr sz="1200" b="1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Mirrors how NBA front offices, coaches, and analysts evaluate performance and enables data-driven decisions in:</a:t>
            </a:r>
            <a:endParaRPr sz="1200"/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★"/>
            </a:pPr>
            <a:r>
              <a:rPr lang="en" sz="1200"/>
              <a:t>Player Development</a:t>
            </a:r>
            <a:endParaRPr sz="1200"/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★"/>
            </a:pPr>
            <a:r>
              <a:rPr lang="en" sz="1200"/>
              <a:t>Roster Construction</a:t>
            </a:r>
            <a:endParaRPr sz="1200"/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★"/>
            </a:pPr>
            <a:r>
              <a:rPr lang="en" sz="1200"/>
              <a:t>Game Strategy</a:t>
            </a:r>
            <a:endParaRPr sz="1200"/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★"/>
            </a:pPr>
            <a:r>
              <a:rPr lang="en" sz="1200"/>
              <a:t>Performance Evaluation</a:t>
            </a:r>
            <a:endParaRPr sz="1200"/>
          </a:p>
        </p:txBody>
      </p:sp>
      <p:pic>
        <p:nvPicPr>
          <p:cNvPr id="65" name="Google Shape;6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07250" y="53075"/>
            <a:ext cx="407100" cy="40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3F3F3"/>
            </a:gs>
            <a:gs pos="5000">
              <a:srgbClr val="F6F6F6"/>
            </a:gs>
            <a:gs pos="92000">
              <a:srgbClr val="F9F9F9"/>
            </a:gs>
            <a:gs pos="96000">
              <a:srgbClr val="F6F6F6"/>
            </a:gs>
            <a:gs pos="100000">
              <a:srgbClr val="F3F3F3"/>
            </a:gs>
          </a:gsLst>
          <a:lin ang="5400012" scaled="0"/>
        </a:gra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title"/>
          </p:nvPr>
        </p:nvSpPr>
        <p:spPr>
          <a:xfrm>
            <a:off x="113650" y="114950"/>
            <a:ext cx="8520600" cy="40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600" b="1"/>
              <a:t>Data Wrangling &amp; Preparation</a:t>
            </a:r>
            <a:endParaRPr sz="1600" b="1"/>
          </a:p>
        </p:txBody>
      </p:sp>
      <p:sp>
        <p:nvSpPr>
          <p:cNvPr id="71" name="Google Shape;71;p15"/>
          <p:cNvSpPr txBox="1"/>
          <p:nvPr/>
        </p:nvSpPr>
        <p:spPr>
          <a:xfrm>
            <a:off x="290600" y="813225"/>
            <a:ext cx="7371600" cy="36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/>
              <a:t>Initial Data Processing</a:t>
            </a:r>
            <a:endParaRPr sz="1200" b="1"/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★"/>
            </a:pPr>
            <a:r>
              <a:rPr lang="en" sz="1200"/>
              <a:t>Raw NBA data ingested from source files into a relational database</a:t>
            </a:r>
            <a:endParaRPr sz="1200"/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★"/>
            </a:pPr>
            <a:r>
              <a:rPr lang="en" sz="1200"/>
              <a:t>Data inspected for completeness, consistency, and structure</a:t>
            </a:r>
            <a:endParaRPr sz="12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/>
              <a:t>Cleaning &amp; Filtering</a:t>
            </a:r>
            <a:endParaRPr sz="1200" b="1"/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★"/>
            </a:pPr>
            <a:r>
              <a:rPr lang="en" sz="1200"/>
              <a:t>Removed duplicate and incomplete records</a:t>
            </a:r>
            <a:endParaRPr sz="1200"/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★"/>
            </a:pPr>
            <a:r>
              <a:rPr lang="en" sz="1200"/>
              <a:t>Standardized team names, player identifiers, and game IDs</a:t>
            </a:r>
            <a:endParaRPr sz="1200"/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★"/>
            </a:pPr>
            <a:r>
              <a:rPr lang="en" sz="1200"/>
              <a:t>Filtered data to include valid NBA games and players only</a:t>
            </a:r>
            <a:endParaRPr sz="12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/>
              <a:t>Transformations &amp; Aggregation</a:t>
            </a:r>
            <a:endParaRPr sz="1200" b="1"/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★"/>
            </a:pPr>
            <a:r>
              <a:rPr lang="en" sz="1200"/>
              <a:t>Converted raw game logs into player-level fact records</a:t>
            </a:r>
            <a:endParaRPr sz="1200"/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★"/>
            </a:pPr>
            <a:r>
              <a:rPr lang="en" sz="1200"/>
              <a:t>Aggregated player statistics to derive team-level metrics</a:t>
            </a:r>
            <a:endParaRPr sz="1200"/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★"/>
            </a:pPr>
            <a:r>
              <a:rPr lang="en" sz="1200"/>
              <a:t>Verified record counts before and after transformations</a:t>
            </a:r>
            <a:endParaRPr sz="1200"/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07250" y="53075"/>
            <a:ext cx="407100" cy="40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3F3F3"/>
            </a:gs>
            <a:gs pos="5000">
              <a:srgbClr val="F6F6F6"/>
            </a:gs>
            <a:gs pos="92000">
              <a:srgbClr val="F9F9F9"/>
            </a:gs>
            <a:gs pos="96000">
              <a:srgbClr val="F6F6F6"/>
            </a:gs>
            <a:gs pos="100000">
              <a:srgbClr val="F3F3F3"/>
            </a:gs>
          </a:gsLst>
          <a:lin ang="5400012" scaled="0"/>
        </a:gra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113650" y="114950"/>
            <a:ext cx="8520600" cy="40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1600" b="1"/>
              <a:t>NBA Data - Star Schema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891"/>
              <a:buNone/>
            </a:pPr>
            <a:endParaRPr sz="1600" b="1"/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95450"/>
            <a:ext cx="9144001" cy="40103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07250" y="53075"/>
            <a:ext cx="407100" cy="40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3F3F3"/>
            </a:gs>
            <a:gs pos="5000">
              <a:srgbClr val="F6F6F6"/>
            </a:gs>
            <a:gs pos="92000">
              <a:srgbClr val="F9F9F9"/>
            </a:gs>
            <a:gs pos="96000">
              <a:srgbClr val="F6F6F6"/>
            </a:gs>
            <a:gs pos="100000">
              <a:srgbClr val="F3F3F3"/>
            </a:gs>
          </a:gsLst>
          <a:lin ang="5400012" scaled="0"/>
        </a:gra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>
            <a:spLocks noGrp="1"/>
          </p:cNvSpPr>
          <p:nvPr>
            <p:ph type="title"/>
          </p:nvPr>
        </p:nvSpPr>
        <p:spPr>
          <a:xfrm>
            <a:off x="113650" y="114950"/>
            <a:ext cx="8520600" cy="40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600" b="1"/>
              <a:t>What Separates Winning Teams from Losing Teams?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1600" b="1"/>
          </a:p>
        </p:txBody>
      </p:sp>
      <p:pic>
        <p:nvPicPr>
          <p:cNvPr id="85" name="Google Shape;85;p17" title="visual-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650" y="574075"/>
            <a:ext cx="5867197" cy="456942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86" name="Google Shape;86;p17"/>
          <p:cNvSpPr txBox="1"/>
          <p:nvPr/>
        </p:nvSpPr>
        <p:spPr>
          <a:xfrm>
            <a:off x="6086025" y="960850"/>
            <a:ext cx="3000000" cy="36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/>
              <a:t>This visual highlights the most consistent “winning” stats across all games:</a:t>
            </a:r>
            <a:endParaRPr sz="12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/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★"/>
            </a:pPr>
            <a:r>
              <a:rPr lang="en" sz="1200"/>
              <a:t>More Field Goals &amp; 3PTs</a:t>
            </a:r>
            <a:endParaRPr sz="1200"/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★"/>
            </a:pPr>
            <a:r>
              <a:rPr lang="en" sz="1200"/>
              <a:t>More Assists</a:t>
            </a:r>
            <a:endParaRPr sz="1200"/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★"/>
            </a:pPr>
            <a:r>
              <a:rPr lang="en" sz="1200"/>
              <a:t>More Defensive Rebounds</a:t>
            </a:r>
            <a:endParaRPr sz="1200"/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★"/>
            </a:pPr>
            <a:r>
              <a:rPr lang="en" sz="1200"/>
              <a:t>More Bench Depth</a:t>
            </a:r>
            <a:endParaRPr sz="1200"/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★"/>
            </a:pPr>
            <a:r>
              <a:rPr lang="en" sz="1200"/>
              <a:t>Less Fouls and Turnovers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chemeClr val="dk1"/>
                </a:solidFill>
              </a:rPr>
              <a:t>Business takeaway</a:t>
            </a:r>
            <a:endParaRPr sz="12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Sponsors perspective: 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★"/>
            </a:pPr>
            <a:r>
              <a:rPr lang="en" sz="1200">
                <a:solidFill>
                  <a:schemeClr val="dk1"/>
                </a:solidFill>
              </a:rPr>
              <a:t>Performance informing visibility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★"/>
            </a:pPr>
            <a:r>
              <a:rPr lang="en" sz="1200">
                <a:solidFill>
                  <a:schemeClr val="dk1"/>
                </a:solidFill>
              </a:rPr>
              <a:t>Informs choice of partnership</a:t>
            </a:r>
            <a:endParaRPr sz="1200"/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07250" y="53075"/>
            <a:ext cx="407100" cy="40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3F3F3"/>
            </a:gs>
            <a:gs pos="5000">
              <a:srgbClr val="F6F6F6"/>
            </a:gs>
            <a:gs pos="92000">
              <a:srgbClr val="F9F9F9"/>
            </a:gs>
            <a:gs pos="96000">
              <a:srgbClr val="F6F6F6"/>
            </a:gs>
            <a:gs pos="100000">
              <a:srgbClr val="F3F3F3"/>
            </a:gs>
          </a:gsLst>
          <a:lin ang="5400012" scaled="0"/>
        </a:gra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>
            <a:spLocks noGrp="1"/>
          </p:cNvSpPr>
          <p:nvPr>
            <p:ph type="title"/>
          </p:nvPr>
        </p:nvSpPr>
        <p:spPr>
          <a:xfrm>
            <a:off x="113650" y="114950"/>
            <a:ext cx="8520600" cy="40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600" b="1"/>
              <a:t>Case Study: Oklahoma City Thunder - A Winning Profile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1600" b="1"/>
          </a:p>
        </p:txBody>
      </p:sp>
      <p:pic>
        <p:nvPicPr>
          <p:cNvPr id="93" name="Google Shape;93;p18" title="visual-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813" y="572725"/>
            <a:ext cx="5848125" cy="446892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94" name="Google Shape;94;p18"/>
          <p:cNvSpPr txBox="1"/>
          <p:nvPr/>
        </p:nvSpPr>
        <p:spPr>
          <a:xfrm>
            <a:off x="6082450" y="525900"/>
            <a:ext cx="3000000" cy="46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/>
              <a:t>Why Team Thunder?</a:t>
            </a:r>
            <a:endParaRPr sz="12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Highest win percentage (77%) among all teams since 2024 and serves as a benchmark for a high-performing team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/>
              <a:t>Key Insights</a:t>
            </a:r>
            <a:endParaRPr sz="12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Thunder confirms winning team observations.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★"/>
            </a:pPr>
            <a:r>
              <a:rPr lang="en" sz="1200"/>
              <a:t>Higher than average in 3PTs, assists, field goals made, and defensive rebounds</a:t>
            </a:r>
            <a:endParaRPr sz="120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★"/>
            </a:pPr>
            <a:r>
              <a:rPr lang="en" sz="1200"/>
              <a:t>Lower than average in turnovers and fouls</a:t>
            </a:r>
            <a:endParaRPr sz="12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/>
              <a:t>Business takeaway</a:t>
            </a:r>
            <a:endParaRPr sz="12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" sz="1200" b="1"/>
            </a:br>
            <a:r>
              <a:rPr lang="en" sz="1200"/>
              <a:t>Team Manager perspective: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★"/>
            </a:pPr>
            <a:r>
              <a:rPr lang="en" sz="1200"/>
              <a:t>Wins drives ticket revenues</a:t>
            </a:r>
            <a:endParaRPr sz="120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★"/>
            </a:pPr>
            <a:r>
              <a:rPr lang="en" sz="1200"/>
              <a:t>Higher media rights revenues</a:t>
            </a:r>
            <a:br>
              <a:rPr lang="en" sz="1200" b="1"/>
            </a:br>
            <a:endParaRPr sz="1200" b="1"/>
          </a:p>
        </p:txBody>
      </p:sp>
      <p:pic>
        <p:nvPicPr>
          <p:cNvPr id="95" name="Google Shape;9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07250" y="53075"/>
            <a:ext cx="407100" cy="40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3F3F3"/>
            </a:gs>
            <a:gs pos="5000">
              <a:srgbClr val="F6F6F6"/>
            </a:gs>
            <a:gs pos="92000">
              <a:srgbClr val="F9F9F9"/>
            </a:gs>
            <a:gs pos="96000">
              <a:srgbClr val="F6F6F6"/>
            </a:gs>
            <a:gs pos="100000">
              <a:srgbClr val="F3F3F3"/>
            </a:gs>
          </a:gsLst>
          <a:lin ang="5400012" scaled="0"/>
        </a:gra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visual-3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775" y="632425"/>
            <a:ext cx="4768338" cy="431665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01" name="Google Shape;101;p19"/>
          <p:cNvSpPr txBox="1">
            <a:spLocks noGrp="1"/>
          </p:cNvSpPr>
          <p:nvPr>
            <p:ph type="title"/>
          </p:nvPr>
        </p:nvSpPr>
        <p:spPr>
          <a:xfrm>
            <a:off x="113650" y="114950"/>
            <a:ext cx="8520600" cy="40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600" b="1"/>
              <a:t>What are key player performance stats for each position?</a:t>
            </a:r>
            <a:endParaRPr sz="1600" b="1"/>
          </a:p>
        </p:txBody>
      </p:sp>
      <p:sp>
        <p:nvSpPr>
          <p:cNvPr id="102" name="Google Shape;102;p19"/>
          <p:cNvSpPr txBox="1"/>
          <p:nvPr/>
        </p:nvSpPr>
        <p:spPr>
          <a:xfrm>
            <a:off x="4980125" y="1220700"/>
            <a:ext cx="4209300" cy="32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/>
              <a:t>This visual sets clear benchmarks for the stats shown, by position. It includes only players with minimum 1000 minutes of total game time</a:t>
            </a:r>
            <a:endParaRPr sz="12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/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★"/>
            </a:pPr>
            <a:r>
              <a:rPr lang="en" sz="1200"/>
              <a:t>Guards - Assists and 3P Made</a:t>
            </a:r>
            <a:endParaRPr sz="1200"/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★"/>
            </a:pPr>
            <a:r>
              <a:rPr lang="en" sz="1200"/>
              <a:t>Forwards - Rebounds and Field Goals</a:t>
            </a:r>
            <a:endParaRPr sz="1200"/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★"/>
            </a:pPr>
            <a:r>
              <a:rPr lang="en" sz="1200">
                <a:solidFill>
                  <a:schemeClr val="dk1"/>
                </a:solidFill>
              </a:rPr>
              <a:t>Centers - Blocks and Rebounds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" sz="1200"/>
            </a:b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</a:rPr>
              <a:t>Business takeaway</a:t>
            </a:r>
            <a:endParaRPr sz="12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★"/>
            </a:pPr>
            <a:r>
              <a:rPr lang="en" sz="1200">
                <a:solidFill>
                  <a:schemeClr val="dk1"/>
                </a:solidFill>
              </a:rPr>
              <a:t>Owning top talents impacts marketing revenue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★"/>
            </a:pPr>
            <a:r>
              <a:rPr lang="en" sz="1200">
                <a:solidFill>
                  <a:schemeClr val="dk1"/>
                </a:solidFill>
              </a:rPr>
              <a:t>Benchmarking informs player endorsement decisions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103" name="Google Shape;10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07250" y="53075"/>
            <a:ext cx="407100" cy="40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3F3F3"/>
            </a:gs>
            <a:gs pos="5000">
              <a:srgbClr val="F6F6F6"/>
            </a:gs>
            <a:gs pos="92000">
              <a:srgbClr val="F9F9F9"/>
            </a:gs>
            <a:gs pos="96000">
              <a:srgbClr val="F6F6F6"/>
            </a:gs>
            <a:gs pos="100000">
              <a:srgbClr val="F3F3F3"/>
            </a:gs>
          </a:gsLst>
          <a:lin ang="5400012" scaled="0"/>
        </a:gra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>
            <a:spLocks noGrp="1"/>
          </p:cNvSpPr>
          <p:nvPr>
            <p:ph type="title"/>
          </p:nvPr>
        </p:nvSpPr>
        <p:spPr>
          <a:xfrm>
            <a:off x="113650" y="114950"/>
            <a:ext cx="8520600" cy="40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600" b="1"/>
              <a:t>How is the overall performance of currently active players?</a:t>
            </a:r>
            <a:endParaRPr sz="1600" b="1"/>
          </a:p>
        </p:txBody>
      </p:sp>
      <p:sp>
        <p:nvSpPr>
          <p:cNvPr id="109" name="Google Shape;109;p20"/>
          <p:cNvSpPr txBox="1"/>
          <p:nvPr/>
        </p:nvSpPr>
        <p:spPr>
          <a:xfrm>
            <a:off x="5141775" y="948775"/>
            <a:ext cx="3955500" cy="350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/>
              <a:t>Overall tiers were made based on the benchmarks and position based percentile stats identified earlier</a:t>
            </a:r>
            <a:br>
              <a:rPr lang="en" sz="1200"/>
            </a:br>
            <a:endParaRPr sz="120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★"/>
            </a:pPr>
            <a:r>
              <a:rPr lang="en" sz="1200"/>
              <a:t>Few in Tier 95 : Guard 8; Forward 14; Center 12</a:t>
            </a:r>
            <a:endParaRPr sz="12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★"/>
            </a:pPr>
            <a:r>
              <a:rPr lang="en" sz="1200"/>
              <a:t>Forwards show the broadest depth in the middle tiers: Tier 50 = 95; Tier 75 = 73</a:t>
            </a:r>
            <a:endParaRPr sz="12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★"/>
            </a:pPr>
            <a:r>
              <a:rPr lang="en" sz="1200"/>
              <a:t>Clear groups for decision-making: This separate players into performance tiers within each position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</a:rPr>
              <a:t>Business takeaway</a:t>
            </a:r>
            <a:br>
              <a:rPr lang="en" sz="1200" b="1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 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★"/>
            </a:pPr>
            <a:r>
              <a:rPr lang="en" sz="1200">
                <a:solidFill>
                  <a:schemeClr val="dk1"/>
                </a:solidFill>
              </a:rPr>
              <a:t>Player performance distribution by position helps plan drafts and player selection</a:t>
            </a:r>
            <a:endParaRPr sz="12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★"/>
            </a:pPr>
            <a:r>
              <a:rPr lang="en" sz="1200">
                <a:solidFill>
                  <a:schemeClr val="dk1"/>
                </a:solidFill>
              </a:rPr>
              <a:t>Informs budgeting strategy by position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110" name="Google Shape;110;p20" title="visual-4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650" y="910200"/>
            <a:ext cx="5028127" cy="376127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11" name="Google Shape;11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07250" y="53075"/>
            <a:ext cx="407100" cy="40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3F3F3"/>
            </a:gs>
            <a:gs pos="5000">
              <a:srgbClr val="F6F6F6"/>
            </a:gs>
            <a:gs pos="92000">
              <a:srgbClr val="F9F9F9"/>
            </a:gs>
            <a:gs pos="96000">
              <a:srgbClr val="F6F6F6"/>
            </a:gs>
            <a:gs pos="100000">
              <a:srgbClr val="F3F3F3"/>
            </a:gs>
          </a:gsLst>
          <a:lin ang="5400012" scaled="0"/>
        </a:gra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>
            <a:spLocks noGrp="1"/>
          </p:cNvSpPr>
          <p:nvPr>
            <p:ph type="title"/>
          </p:nvPr>
        </p:nvSpPr>
        <p:spPr>
          <a:xfrm>
            <a:off x="113650" y="114950"/>
            <a:ext cx="8520600" cy="40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600" b="1"/>
              <a:t>Summary</a:t>
            </a:r>
            <a:endParaRPr sz="1600" b="1"/>
          </a:p>
        </p:txBody>
      </p:sp>
      <p:sp>
        <p:nvSpPr>
          <p:cNvPr id="117" name="Google Shape;117;p21"/>
          <p:cNvSpPr txBox="1"/>
          <p:nvPr/>
        </p:nvSpPr>
        <p:spPr>
          <a:xfrm>
            <a:off x="495600" y="645500"/>
            <a:ext cx="7371600" cy="36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/>
              <a:t>Our 80-year NBA dataset allowed us to create a winning team and top player benchmarks that can be used for strategic decisions in Sports Management.</a:t>
            </a:r>
            <a:endParaRPr sz="1200" b="1"/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/>
              <a:t>Team Manager Standpoint:</a:t>
            </a:r>
            <a:endParaRPr sz="1200"/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★"/>
            </a:pPr>
            <a:r>
              <a:rPr lang="en" sz="1200"/>
              <a:t>Knowing performance drives revenues in ticket and media rights</a:t>
            </a:r>
            <a:endParaRPr sz="1200"/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★"/>
            </a:pPr>
            <a:r>
              <a:rPr lang="en" sz="1200"/>
              <a:t>Higher performance brings in more people in arena and watching live.</a:t>
            </a:r>
            <a:endParaRPr sz="1200"/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★"/>
            </a:pPr>
            <a:r>
              <a:rPr lang="en" sz="1200"/>
              <a:t>It's a crucial metric to pinpoint better cost planning for training and staff member choice.</a:t>
            </a:r>
            <a:endParaRPr sz="1200"/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★"/>
            </a:pPr>
            <a:r>
              <a:rPr lang="en" sz="1200"/>
              <a:t>It helps  manage marketing plans and choice with their top talents.</a:t>
            </a:r>
            <a:endParaRPr sz="12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/>
              <a:t>Sponsorship Point of View:</a:t>
            </a:r>
            <a:endParaRPr sz="1200" b="1"/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★"/>
            </a:pPr>
            <a:r>
              <a:rPr lang="en" sz="1200"/>
              <a:t>Performances helps in identifying the best team or player for visibility,</a:t>
            </a:r>
            <a:endParaRPr sz="1200"/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★"/>
            </a:pPr>
            <a:r>
              <a:rPr lang="en" sz="1200"/>
              <a:t>It impacts marketing planning and budgeting. </a:t>
            </a:r>
            <a:endParaRPr sz="1200"/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★"/>
            </a:pPr>
            <a:r>
              <a:rPr lang="en" sz="1200"/>
              <a:t>Player performance benchmarks informs endorsements and campaigns decisions.</a:t>
            </a:r>
            <a:endParaRPr sz="1200"/>
          </a:p>
        </p:txBody>
      </p:sp>
      <p:pic>
        <p:nvPicPr>
          <p:cNvPr id="118" name="Google Shape;11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07250" y="53075"/>
            <a:ext cx="407100" cy="40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575</Words>
  <Application>Microsoft Macintosh PowerPoint</Application>
  <PresentationFormat>On-screen Show (16:9)</PresentationFormat>
  <Paragraphs>99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Simple Light</vt:lpstr>
      <vt:lpstr>PowerPoint Presentation</vt:lpstr>
      <vt:lpstr>Dataset Overview &amp; Business Context</vt:lpstr>
      <vt:lpstr>Data Wrangling &amp; Preparation</vt:lpstr>
      <vt:lpstr>NBA Data - Star Schema </vt:lpstr>
      <vt:lpstr>What Separates Winning Teams from Losing Teams? </vt:lpstr>
      <vt:lpstr>Case Study: Oklahoma City Thunder - A Winning Profile </vt:lpstr>
      <vt:lpstr>What are key player performance stats for each position?</vt:lpstr>
      <vt:lpstr>How is the overall performance of currently active players?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Cline, Kj</cp:lastModifiedBy>
  <cp:revision>1</cp:revision>
  <dcterms:modified xsi:type="dcterms:W3CDTF">2025-12-18T22:50:46Z</dcterms:modified>
</cp:coreProperties>
</file>